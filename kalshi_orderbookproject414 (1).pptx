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508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CAF0F8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228600" y="228600"/>
            <a:ext cx="8686800" cy="64008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228600" y="868680"/>
            <a:ext cx="8686800" cy="34747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  <a:defRPr b="0" i="0" sz="2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6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/>
        </p:nvSpPr>
        <p:spPr>
          <a:xfrm>
            <a:off x="548640" y="822960"/>
            <a:ext cx="8046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1" lang="en-US" sz="3800">
                <a:solidFill>
                  <a:schemeClr val="dk1"/>
                </a:solidFill>
              </a:rPr>
              <a:t>Analysis of </a:t>
            </a:r>
            <a:r>
              <a:rPr b="1" i="0" lang="en-US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Hour of Kalshi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Order-Book Activity</a:t>
            </a:r>
            <a:endParaRPr b="0" i="0" sz="3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Exploratory data analysis and a five-minute prediction test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Syon Huang</a:t>
            </a:r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224925" y="4597600"/>
            <a:ext cx="790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2"/>
                </a:solidFill>
              </a:rPr>
              <a:t>ctrl-f5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Roadmap</a:t>
            </a:r>
            <a:endParaRPr sz="2600"/>
          </a:p>
        </p:txBody>
      </p:sp>
      <p:sp>
        <p:nvSpPr>
          <p:cNvPr id="33" name="Google Shape;33;p6"/>
          <p:cNvSpPr/>
          <p:nvPr/>
        </p:nvSpPr>
        <p:spPr>
          <a:xfrm>
            <a:off x="228600" y="1371600"/>
            <a:ext cx="4251960" cy="269748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4663440" y="1371600"/>
            <a:ext cx="4251960" cy="269748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384048" y="14813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 1 · E</a:t>
            </a:r>
            <a:r>
              <a:rPr b="1" lang="en-US" spc="100" sz="1100">
                <a:solidFill>
                  <a:schemeClr val="accent1"/>
                </a:solidFill>
              </a:rPr>
              <a:t>DA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384048" y="178308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lang="en-US" sz="1450">
                <a:solidFill>
                  <a:schemeClr val="lt2"/>
                </a:solidFill>
              </a:rPr>
              <a:t>Terms and variable definitions</a:t>
            </a:r>
            <a:endParaRPr/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How concentrated activity is across 2,056 assets, and what the Gini coefficient measures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Timing, price and size patterns, including what prices </a:t>
            </a:r>
            <a:r>
              <a:rPr lang="en-US" sz="1450">
                <a:solidFill>
                  <a:schemeClr val="lt2"/>
                </a:solidFill>
              </a:rPr>
              <a:t>indicate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about probability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BUY/SELL balance and zero-size removals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4818888" y="148132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 2 · MODEL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4818888" y="1783080"/>
            <a:ext cx="39319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Rebuild the order book from the update stream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Define the 5-minute mid-price target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How the two models were trained</a:t>
            </a:r>
            <a:endParaRPr sz="1450">
              <a:solidFill>
                <a:schemeClr val="lt2"/>
              </a:solidFill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Which features carry signal, and how the models score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Does the edge beat the spread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228600" y="4206240"/>
            <a:ext cx="8686800" cy="70866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The hour at a glance</a:t>
            </a:r>
            <a:endParaRPr sz="2600"/>
          </a:p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O</a:t>
            </a:r>
            <a:r>
              <a:rPr lang="en-US"/>
              <a:t>ne hour of </a:t>
            </a:r>
            <a:r>
              <a:rPr lang="en-US" sz="1300">
                <a:solidFill>
                  <a:schemeClr val="lt2"/>
                </a:solidFill>
              </a:rPr>
              <a:t>2,056 separate streams of quote updates</a:t>
            </a:r>
            <a:endParaRPr sz="1300"/>
          </a:p>
        </p:txBody>
      </p:sp>
      <p:sp>
        <p:nvSpPr>
          <p:cNvPr id="48" name="Google Shape;48;p7"/>
          <p:cNvSpPr/>
          <p:nvPr/>
        </p:nvSpPr>
        <p:spPr>
          <a:xfrm>
            <a:off x="228600" y="1371600"/>
            <a:ext cx="2788920" cy="91440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20040" y="142646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628,513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320040" y="1810512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rows: order-book feed updates in the file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3177540" y="1371600"/>
            <a:ext cx="2788920" cy="91440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3268980" y="142646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2,056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3268980" y="1810512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 IDs: distinct contracts, each with its own stream of updates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6126480" y="1371600"/>
            <a:ext cx="2788920" cy="91440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 txBox="1"/>
          <p:nvPr/>
        </p:nvSpPr>
        <p:spPr>
          <a:xfrm>
            <a:off x="6217920" y="142646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10,475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6217920" y="1810512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per minute on average (about 175 per second)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228600" y="2423160"/>
            <a:ext cx="8686800" cy="249174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/>
        </p:nvSpPr>
        <p:spPr>
          <a:xfrm>
            <a:off x="384048" y="2514600"/>
            <a:ext cx="836676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Snapshot: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one hour (23:00–23:59 UTC on Oct 9, 2026). It describes this particular sample, not Kalshi in general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Dynamics of a row</a:t>
            </a: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 quote being set, changed or removed. It is not necessarily a trade. A trader adjusting a resting order creates a row even though nothing was bought or sold.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Rate: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628,513 rows</a:t>
            </a:r>
            <a:r>
              <a:rPr lang="en-US" sz="1200">
                <a:solidFill>
                  <a:schemeClr val="lt2"/>
                </a:solidFill>
              </a:rPr>
              <a:t>/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60 minutes = 10,475 rows per minute, or about 175 rows every second across all assets combined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Unevenly shared: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average asset has about 306 updates but the median asset has only 44. The 100 busiest assets produce 410,208 rows and the other 1,956 assets share the remaining 34.7%.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Economics: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this is order-book data, not a trade tape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/>
              <a:t>Gini Ratio</a:t>
            </a:r>
            <a:endParaRPr sz="2600"/>
          </a:p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/>
              <a:t>Economic measure of inequality between a population</a:t>
            </a:r>
            <a:endParaRPr sz="1300"/>
          </a:p>
        </p:txBody>
      </p:sp>
      <p:sp>
        <p:nvSpPr>
          <p:cNvPr id="66" name="Google Shape;66;p8"/>
          <p:cNvSpPr/>
          <p:nvPr/>
        </p:nvSpPr>
        <p:spPr>
          <a:xfrm>
            <a:off x="228600" y="1371600"/>
            <a:ext cx="8686800" cy="15087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685800" y="1828800"/>
            <a:ext cx="7772400" cy="27432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685800" y="1828800"/>
            <a:ext cx="6559906" cy="27432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7218274" y="1719072"/>
            <a:ext cx="54864" cy="493776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6331306" y="1463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0.844 this hour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628900" y="2212848"/>
            <a:ext cx="3108960" cy="9144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 txBox="1"/>
          <p:nvPr/>
        </p:nvSpPr>
        <p:spPr>
          <a:xfrm>
            <a:off x="1897380" y="232257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2"/>
                </a:solidFill>
              </a:rPr>
              <a:t>N</a:t>
            </a:r>
            <a:r>
              <a:rPr b="0" i="0" lang="en-U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ational income Ginis fall roughly between 0.25 and 0.65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457200" y="26060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= perfectly equal: every asset has about 306 updates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4937760" y="26060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= one asset has all 628,513 updates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28600" y="3017520"/>
            <a:ext cx="4251960" cy="189738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4663440" y="3017520"/>
            <a:ext cx="4251960" cy="189738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365760" y="31089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HOW IT IS CALCULATED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 txBox="1"/>
          <p:nvPr/>
        </p:nvSpPr>
        <p:spPr>
          <a:xfrm>
            <a:off x="365760" y="3364992"/>
            <a:ext cx="400507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1. Rank : </a:t>
            </a:r>
            <a:r>
              <a:rPr lang="en-US" sz="1200">
                <a:solidFill>
                  <a:schemeClr val="lt2"/>
                </a:solidFill>
              </a:rPr>
              <a:t>Firstly, we rank t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he 2,056 assets from fewest to most updates.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2. Accumulate: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share of all updates do the quietest 10%, 20%, 30% and so on of assets hold? </a:t>
            </a:r>
            <a:r>
              <a:rPr lang="en-US" sz="1200">
                <a:solidFill>
                  <a:schemeClr val="lt2"/>
                </a:solidFill>
              </a:rPr>
              <a:t>Gini ratio is a way to answer that question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1" lang="en-US" sz="1200">
                <a:solidFill>
                  <a:schemeClr val="accent1"/>
                </a:solidFill>
              </a:rPr>
              <a:t>Interpretation: </a:t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US" sz="1200">
                <a:solidFill>
                  <a:schemeClr val="lt2"/>
                </a:solidFill>
              </a:rPr>
              <a:t>At 0.844, an abnormal portion of the population has a larger distribution of the updates 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79" name="Google Shape;79;p8"/>
          <p:cNvSpPr txBox="1"/>
          <p:nvPr/>
        </p:nvSpPr>
        <p:spPr>
          <a:xfrm>
            <a:off x="4800600" y="310896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pc="100" sz="1100">
                <a:solidFill>
                  <a:schemeClr val="accent1"/>
                </a:solidFill>
              </a:rPr>
              <a:t>Structure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 txBox="1"/>
          <p:nvPr/>
        </p:nvSpPr>
        <p:spPr>
          <a:xfrm>
            <a:off x="4800600" y="3364992"/>
            <a:ext cx="4005072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2"/>
                </a:solidFill>
              </a:rPr>
              <a:t>Lorenz curve is the cumulative percentage of the population (ranked from least shares to most shares) on the x axis and the cumulative share of total income or wealth they earn on the vertical y axis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US" sz="1100">
                <a:solidFill>
                  <a:schemeClr val="lt2"/>
                </a:solidFill>
              </a:rPr>
              <a:t>After computing the Lorenz curve, the ratio is given by A/A+B, where A is the area between this curve and the horizontal axis, and A + B is total area under equality line </a:t>
            </a:r>
            <a:endParaRPr sz="120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A few contracts carry the feed</a:t>
            </a:r>
            <a:endParaRPr sz="2600"/>
          </a:p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Share of asset IDs versus share of all updates</a:t>
            </a:r>
            <a:endParaRPr sz="1300"/>
          </a:p>
        </p:txBody>
      </p:sp>
      <p:sp>
        <p:nvSpPr>
          <p:cNvPr id="88" name="Google Shape;88;p9"/>
          <p:cNvSpPr/>
          <p:nvPr/>
        </p:nvSpPr>
        <p:spPr>
          <a:xfrm>
            <a:off x="228600" y="1371600"/>
            <a:ext cx="411480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365760" y="14447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of asset IDs vs share of updates (%)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737360"/>
            <a:ext cx="393192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/>
          <p:nvPr/>
        </p:nvSpPr>
        <p:spPr>
          <a:xfrm>
            <a:off x="4480560" y="1371600"/>
            <a:ext cx="443484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 txBox="1"/>
          <p:nvPr/>
        </p:nvSpPr>
        <p:spPr>
          <a:xfrm>
            <a:off x="4617720" y="144475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0.844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6400800" y="14630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Gini coefficient of update counts</a:t>
            </a:r>
            <a:r>
              <a:rPr lang="en-US" sz="1000">
                <a:solidFill>
                  <a:schemeClr val="lt2"/>
                </a:solidFill>
              </a:rPr>
              <a:t>, cl</a:t>
            </a:r>
            <a:r>
              <a:rPr b="0" i="0" lang="en-US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ose to 1 means very uneven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4617720" y="2148840"/>
            <a:ext cx="41605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Top 20 assets </a:t>
            </a:r>
            <a:r>
              <a:rPr b="0" i="0" lang="en-US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(1.0% of the 2,056) account for 34.6% of all updates. The top 100 (4.9%) account for 65.3%.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Median vs busiest: </a:t>
            </a:r>
            <a:r>
              <a:rPr b="0" i="0" lang="en-US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median asset has 44 updates and the busiest has 31,578, more than 700 times as many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Economic</a:t>
            </a:r>
            <a:r>
              <a:rPr b="1" lang="en-US" sz="1300">
                <a:solidFill>
                  <a:schemeClr val="accent1"/>
                </a:solidFill>
              </a:rPr>
              <a:t> interp</a:t>
            </a:r>
            <a:r>
              <a:rPr b="1" i="0" lang="en-US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300">
                <a:solidFill>
                  <a:schemeClr val="lt2"/>
                </a:solidFill>
              </a:rPr>
              <a:t>Market is highly concentrated, with much more trades on a select few event contracts than others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Caution: </a:t>
            </a:r>
            <a:r>
              <a:rPr lang="en-US" sz="1300">
                <a:solidFill>
                  <a:schemeClr val="lt2"/>
                </a:solidFill>
              </a:rPr>
              <a:t>pooled statistics give more weight to contracts with more quote updates, meaning the results mainly describe the most actively updated contracts and may not reflect the typical Kalshi contract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Activity is steady, with mild bursts</a:t>
            </a:r>
            <a:endParaRPr sz="2600"/>
          </a:p>
        </p:txBody>
      </p:sp>
      <p:sp>
        <p:nvSpPr>
          <p:cNvPr id="101" name="Google Shape;101;p10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Even the busiest minute is only about 1.4× the average</a:t>
            </a:r>
            <a:endParaRPr sz="1300"/>
          </a:p>
        </p:txBody>
      </p:sp>
      <p:sp>
        <p:nvSpPr>
          <p:cNvPr id="102" name="Google Shape;102;p10"/>
          <p:cNvSpPr/>
          <p:nvPr/>
        </p:nvSpPr>
        <p:spPr>
          <a:xfrm>
            <a:off x="228600" y="1371600"/>
            <a:ext cx="411480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 txBox="1"/>
          <p:nvPr/>
        </p:nvSpPr>
        <p:spPr>
          <a:xfrm>
            <a:off x="365760" y="1463040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WHAT THE NUMBERS SAY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365760" y="1737360"/>
            <a:ext cx="3858768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Average: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628,513 </a:t>
            </a:r>
            <a:r>
              <a:rPr lang="en-US" sz="1200">
                <a:solidFill>
                  <a:schemeClr val="lt2"/>
                </a:solidFill>
              </a:rPr>
              <a:t>/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60 = 10,475 updates per minute</a:t>
            </a:r>
            <a:r>
              <a:rPr lang="en-US" sz="1200">
                <a:solidFill>
                  <a:schemeClr val="lt2"/>
                </a:solidFill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Peak minute: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15,014 at 23:43 UTC, which is 1.43</a:t>
            </a:r>
            <a:r>
              <a:rPr lang="en-US" sz="1200">
                <a:solidFill>
                  <a:schemeClr val="lt2"/>
                </a:solidFill>
              </a:rPr>
              <a:t> times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average</a:t>
            </a:r>
            <a:r>
              <a:rPr lang="en-US" sz="1200">
                <a:solidFill>
                  <a:schemeClr val="lt2"/>
                </a:solidFill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Quietest minute: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7,252 at 23:06 UTC, 0.69× the average.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What 1.4× signifies: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 minute strayed outside roughly 0.7× to 1.4× the average. A truly spiky feed would show peaks many times the average, so the update rate was relatively stable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5-minute totals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run from 40.5k to 62.5k, or 0.77× to 1.19× the per-minute average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accen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lt2"/>
                </a:solidFill>
              </a:rPr>
              <a:t>However, t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hese are quote updates, not trades, so this measures how busy the book was. It is also the whole feed combined. Single assets can still be</a:t>
            </a:r>
            <a:r>
              <a:rPr lang="en-US" sz="1200">
                <a:solidFill>
                  <a:schemeClr val="lt2"/>
                </a:solidFill>
              </a:rPr>
              <a:t> unpredictable</a:t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4480560" y="1371600"/>
            <a:ext cx="2148840" cy="100584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4572000" y="1426464"/>
            <a:ext cx="1965960" cy="422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15,014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4572000" y="1848917"/>
            <a:ext cx="1965960" cy="47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peak minute (23:43 UTC)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6766560" y="1371600"/>
            <a:ext cx="2148840" cy="100584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6858000" y="1426464"/>
            <a:ext cx="1965960" cy="422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7,252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6858000" y="1848917"/>
            <a:ext cx="1965960" cy="47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quietest minute (23:06 UTC)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4480560" y="2514600"/>
            <a:ext cx="4434840" cy="2400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 txBox="1"/>
          <p:nvPr/>
        </p:nvSpPr>
        <p:spPr>
          <a:xfrm>
            <a:off x="4572000" y="2578608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per 5-minute bucket, thousands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280" y="2834640"/>
            <a:ext cx="4343400" cy="2011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0" title="updates_per_5min_bucket_cle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550" y="2514600"/>
            <a:ext cx="4477651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Prices read as probabilities</a:t>
            </a:r>
            <a:endParaRPr sz="2600"/>
          </a:p>
        </p:txBody>
      </p:sp>
      <p:sp>
        <p:nvSpPr>
          <p:cNvPr id="121" name="Google Shape;121;p11"/>
          <p:cNvSpPr/>
          <p:nvPr/>
        </p:nvSpPr>
        <p:spPr>
          <a:xfrm>
            <a:off x="228600" y="1371600"/>
            <a:ext cx="448056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 txBox="1"/>
          <p:nvPr/>
        </p:nvSpPr>
        <p:spPr>
          <a:xfrm>
            <a:off x="365760" y="1481328"/>
            <a:ext cx="4224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Reading the chart: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each bar counts update rows priced inside a 0.1-wide bucket. Labels show the bucket start (0.0 means 0.00 to 0.10). Numbers above bars are thousands of rows and add up to 628.5k.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Shape: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127k rows (20.2%) sit below 0.10, then about 65k to 73k per bucket up to 0.5, and 38k to 52k per bucket above 0.5.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Mean 0.410, median 0.38.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middle half of quotes (25th to 75th percentile) sits between 0.14 and 0.63.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17.8%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of updates are </a:t>
            </a:r>
            <a:r>
              <a:rPr lang="en-US" sz="1200">
                <a:solidFill>
                  <a:schemeClr val="lt2"/>
                </a:solidFill>
              </a:rPr>
              <a:t>less than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0.05 or </a:t>
            </a:r>
            <a:r>
              <a:rPr lang="en-US" sz="1200">
                <a:solidFill>
                  <a:schemeClr val="lt2"/>
                </a:solidFill>
              </a:rPr>
              <a:t>greater than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0.95: longshots and </a:t>
            </a:r>
            <a:r>
              <a:rPr lang="en-US" sz="1200">
                <a:solidFill>
                  <a:schemeClr val="lt2"/>
                </a:solidFill>
              </a:rPr>
              <a:t>pretty much guaranteeds 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US" sz="1200">
                <a:solidFill>
                  <a:schemeClr val="lt2"/>
                </a:solidFill>
              </a:rPr>
              <a:t>In other words, people like to trade either extremely low probabilities or guaranteed payouts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</a:pPr>
            <a:r>
              <a:rPr lang="en-US" sz="1200">
                <a:solidFill>
                  <a:schemeClr val="lt2"/>
                </a:solidFill>
              </a:rPr>
              <a:t>Accurate reflection of trading mindset (?)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4846320" y="1371600"/>
            <a:ext cx="406908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 txBox="1"/>
          <p:nvPr/>
        </p:nvSpPr>
        <p:spPr>
          <a:xfrm>
            <a:off x="4956048" y="14447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by price bucket (thousands of rows)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1"/>
          <p:cNvSpPr txBox="1"/>
          <p:nvPr/>
        </p:nvSpPr>
        <p:spPr>
          <a:xfrm>
            <a:off x="4956048" y="44988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Label = bucket</a:t>
            </a:r>
            <a:r>
              <a:rPr lang="en-US" sz="1100">
                <a:solidFill>
                  <a:schemeClr val="dk2"/>
                </a:solidFill>
              </a:rPr>
              <a:t> starts, l</a:t>
            </a:r>
            <a:r>
              <a:rPr b="0" i="0" lang="en-US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ongshots (0.0 to 0.1) and near-certainties (0.9 to 1.0)</a:t>
            </a:r>
            <a:r>
              <a:rPr lang="en-US" sz="1100">
                <a:solidFill>
                  <a:schemeClr val="dk2"/>
                </a:solidFill>
              </a:rPr>
              <a:t> are indicated with darker colors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7427" y="1618485"/>
            <a:ext cx="39777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Sizes are heavy-tailed</a:t>
            </a:r>
            <a:endParaRPr sz="2600"/>
          </a:p>
        </p:txBody>
      </p:sp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A few huge quotes </a:t>
            </a:r>
            <a:r>
              <a:rPr lang="en-US"/>
              <a:t>skew </a:t>
            </a:r>
            <a:r>
              <a:rPr lang="en-US" sz="1300">
                <a:solidFill>
                  <a:schemeClr val="lt2"/>
                </a:solidFill>
              </a:rPr>
              <a:t>the average far above the typical size</a:t>
            </a:r>
            <a:endParaRPr sz="1300"/>
          </a:p>
        </p:txBody>
      </p:sp>
      <p:sp>
        <p:nvSpPr>
          <p:cNvPr id="134" name="Google Shape;134;p12"/>
          <p:cNvSpPr/>
          <p:nvPr/>
        </p:nvSpPr>
        <p:spPr>
          <a:xfrm>
            <a:off x="228600" y="1371600"/>
            <a:ext cx="429768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 txBox="1"/>
          <p:nvPr/>
        </p:nvSpPr>
        <p:spPr>
          <a:xfrm>
            <a:off x="365760" y="14447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Updates by size (thousands of rows)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365760" y="440740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Label = bin start. “10” means sizes from 10 up to 100, and “1k” means 1,000 up to 10,000.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4663440" y="1371600"/>
            <a:ext cx="425196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4800600" y="1481328"/>
            <a:ext cx="399592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Size -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quantity of shares posted</a:t>
            </a:r>
            <a:r>
              <a:rPr lang="en-US" sz="1350">
                <a:solidFill>
                  <a:schemeClr val="lt2"/>
                </a:solidFill>
              </a:rPr>
              <a:t>,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runs from 0 to over 10 million.</a:t>
            </a:r>
            <a:endParaRPr b="0" i="0" sz="13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lang="en-US" sz="1350">
                <a:solidFill>
                  <a:schemeClr val="lt2"/>
                </a:solidFill>
              </a:rPr>
              <a:t>Example: 151,000 updates of 100-999 shares were made in our hour period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Typical sizes: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biggest non-zero bins are 100 to 999 (151k rows) and 10 to 99 (122k rows). Another 139k rows have size 0.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Median 101 vs mean 7,263.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99th percentile is 117,818 and the maximum is 10,063,396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Heavy-tailed</a:t>
            </a:r>
            <a:r>
              <a:rPr b="1" lang="en-US" sz="1350">
                <a:solidFill>
                  <a:schemeClr val="accent1"/>
                </a:solidFill>
              </a:rPr>
              <a:t>: </a:t>
            </a:r>
            <a:r>
              <a:rPr lang="en-US" sz="1350">
                <a:solidFill>
                  <a:schemeClr val="lt2"/>
                </a:solidFill>
              </a:rPr>
              <a:t>Our data indicates e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xtreme values are far more common than a bell curve, few giant quotes pull the mean far above the median</a:t>
            </a:r>
            <a:endParaRPr b="0" i="0" sz="13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lang="en-US" sz="1350">
                <a:solidFill>
                  <a:schemeClr val="lt2"/>
                </a:solidFill>
              </a:rPr>
              <a:t>Also because negative values are impossible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Economic</a:t>
            </a:r>
            <a:r>
              <a:rPr b="1" lang="en-US" sz="1350">
                <a:solidFill>
                  <a:schemeClr val="accent1"/>
                </a:solidFill>
              </a:rPr>
              <a:t> interpretation</a:t>
            </a: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depth is size resting at a price. Because of the tail, the median (101) shows typical depth and the mean overstates it</a:t>
            </a:r>
            <a:r>
              <a:rPr lang="en-US" sz="1350">
                <a:solidFill>
                  <a:schemeClr val="lt2"/>
                </a:solidFill>
              </a:rPr>
              <a:t> once again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283" y="1626410"/>
            <a:ext cx="4206300" cy="265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Balanced sides, and many removals</a:t>
            </a:r>
            <a:endParaRPr sz="2600"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Zero-size updates are removals, so this is a quote stream and not a trade tape</a:t>
            </a:r>
            <a:endParaRPr sz="1300"/>
          </a:p>
        </p:txBody>
      </p:sp>
      <p:sp>
        <p:nvSpPr>
          <p:cNvPr id="147" name="Google Shape;147;p13"/>
          <p:cNvSpPr/>
          <p:nvPr/>
        </p:nvSpPr>
        <p:spPr>
          <a:xfrm>
            <a:off x="228600" y="1371600"/>
            <a:ext cx="393192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365760" y="14447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of rows by side (%)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4297680" y="1371600"/>
            <a:ext cx="461772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4434840" y="1481328"/>
            <a:ext cx="436168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Balanced: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BUY (</a:t>
            </a:r>
            <a:r>
              <a:rPr lang="en-US" sz="1350">
                <a:solidFill>
                  <a:schemeClr val="lt2"/>
                </a:solidFill>
              </a:rPr>
              <a:t>label 0)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is 49.3% of rows and SELL (label 1)  is at 50.7%, so bids and asks are updated about equally often</a:t>
            </a:r>
            <a:endParaRPr b="0" i="0" sz="13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Zero size: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23.2% of BUY rows and 21.0% of SELL rows, about 22% overall. Quantity at a price was pulled from the book.</a:t>
            </a:r>
            <a:endParaRPr b="0" i="0" sz="13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Zero-size update: </a:t>
            </a:r>
            <a:r>
              <a:rPr b="0" i="0" lang="en-US" sz="13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 row saying no quantity remains at that price, so the level is deleted. The file does not say if the owner cancelled or a trade filled i</a:t>
            </a:r>
            <a:r>
              <a:rPr lang="en-US" sz="1350">
                <a:solidFill>
                  <a:schemeClr val="lt2"/>
                </a:solidFill>
              </a:rPr>
              <a:t>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595" y="1821415"/>
            <a:ext cx="4023300" cy="28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/>
              <a:t>ML Tool - Prediction Comparison</a:t>
            </a:r>
            <a:endParaRPr sz="2600"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/>
              <a:t>Q: W</a:t>
            </a:r>
            <a:r>
              <a:rPr lang="en-US"/>
              <a:t>hether a unique asset_id's midpoint price at a certain time would be higher or lower after five minutes</a:t>
            </a:r>
            <a:endParaRPr sz="1300"/>
          </a:p>
        </p:txBody>
      </p:sp>
      <p:sp>
        <p:nvSpPr>
          <p:cNvPr id="159" name="Google Shape;159;p14"/>
          <p:cNvSpPr/>
          <p:nvPr/>
        </p:nvSpPr>
        <p:spPr>
          <a:xfrm>
            <a:off x="228600" y="1371600"/>
            <a:ext cx="4297680" cy="16002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 txBox="1"/>
          <p:nvPr/>
        </p:nvSpPr>
        <p:spPr>
          <a:xfrm>
            <a:off x="365760" y="144475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pc="100" sz="1100">
                <a:solidFill>
                  <a:schemeClr val="accent1"/>
                </a:solidFill>
              </a:rPr>
              <a:t>Logic</a:t>
            </a:r>
            <a:endParaRPr/>
          </a:p>
        </p:txBody>
      </p:sp>
      <p:sp>
        <p:nvSpPr>
          <p:cNvPr id="161" name="Google Shape;161;p14"/>
          <p:cNvSpPr txBox="1"/>
          <p:nvPr/>
        </p:nvSpPr>
        <p:spPr>
          <a:xfrm>
            <a:off x="365760" y="1691640"/>
            <a:ext cx="4023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Each size is the new total at that price, not an amount added to what was there.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lt2"/>
                </a:solidFill>
              </a:rPr>
              <a:t>Select top active 100 order-book-update contracts</a:t>
            </a:r>
            <a:endParaRPr/>
          </a:p>
          <a:p>
            <a:pPr indent="-139700" lvl="0" marL="1397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Skip crossed states, where the best bid is at or above the best ask. </a:t>
            </a:r>
            <a:r>
              <a:rPr lang="en-US" sz="1200">
                <a:solidFill>
                  <a:schemeClr val="lt2"/>
                </a:solidFill>
              </a:rPr>
              <a:t>Our definition of a healthy market is contingent that best bid is below best ask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4663440" y="1371600"/>
            <a:ext cx="2103120" cy="160020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4754880" y="1426464"/>
            <a:ext cx="1920240" cy="672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99.7%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4754880" y="2098548"/>
            <a:ext cx="1920240" cy="818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 share of updates kept as valid book states (lowest asset: 13.1%)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6812280" y="1371600"/>
            <a:ext cx="2103120" cy="160020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6903720" y="1426464"/>
            <a:ext cx="1920240" cy="672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 txBox="1"/>
          <p:nvPr/>
        </p:nvSpPr>
        <p:spPr>
          <a:xfrm>
            <a:off x="6903725" y="1970750"/>
            <a:ext cx="19752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assets with usable features. 96 of the top 100 had more than 20 valid states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Most updated events’ best bid never exceeded lowest sell</a:t>
            </a:r>
            <a:endParaRPr sz="1100"/>
          </a:p>
        </p:txBody>
      </p:sp>
      <p:sp>
        <p:nvSpPr>
          <p:cNvPr id="168" name="Google Shape;168;p14"/>
          <p:cNvSpPr/>
          <p:nvPr/>
        </p:nvSpPr>
        <p:spPr>
          <a:xfrm>
            <a:off x="228600" y="3108960"/>
            <a:ext cx="187452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320040" y="31546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· Replay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320040" y="3401568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updates in time order, one asset at a time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2139696" y="3520440"/>
            <a:ext cx="3230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2499360" y="3108960"/>
            <a:ext cx="187452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2590800" y="31546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· Set or remove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2590800" y="3401568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quantity at each bid or ask price, or delete the level if size is 0. Drop crossed states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4410456" y="3520440"/>
            <a:ext cx="3230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4770120" y="3108960"/>
            <a:ext cx="187452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4861560" y="31546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· Read 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4861535" y="3392418"/>
            <a:ext cx="1691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 the best bid, the best ask, and the size (quantity of shares at particular contract price) and depth posted near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6681216" y="3520440"/>
            <a:ext cx="323088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7040880" y="3108960"/>
            <a:ext cx="1874520" cy="10515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7132320" y="3154680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· Sample each minute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7132320" y="3401568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 1-minute grid, record mid-price, spread and imbalance per asset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228600" y="4297680"/>
            <a:ext cx="8686800" cy="61722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365760" y="4315968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Economics: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best bid and ask form the “touch”, </a:t>
            </a:r>
            <a:r>
              <a:rPr lang="en-US" sz="1100">
                <a:solidFill>
                  <a:schemeClr val="lt2"/>
                </a:solidFill>
              </a:rPr>
              <a:t>essentially the best scenario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where trades happen. Depth is the associated size posted near 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Target: the 5-minute mid-price move</a:t>
            </a:r>
            <a:endParaRPr sz="2600"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Features on a 1-minute grid, scored on a holdout</a:t>
            </a:r>
            <a:endParaRPr sz="1300"/>
          </a:p>
        </p:txBody>
      </p:sp>
      <p:sp>
        <p:nvSpPr>
          <p:cNvPr id="192" name="Google Shape;192;p15"/>
          <p:cNvSpPr/>
          <p:nvPr/>
        </p:nvSpPr>
        <p:spPr>
          <a:xfrm>
            <a:off x="228600" y="1371600"/>
            <a:ext cx="457200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365760" y="1481328"/>
            <a:ext cx="431596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: for each asset at grid minute t, the mid-price at t + 5 minutes minus the mid-price at t. </a:t>
            </a:r>
            <a:r>
              <a:rPr lang="en-US" sz="1200">
                <a:solidFill>
                  <a:schemeClr val="lt2"/>
                </a:solidFill>
              </a:rPr>
              <a:t>For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example: 0.40 now and 0.43 five minutes later gives +0.03, or +3 cents.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Moved rows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are those where the target is not zero. 1,400 of 3,202 grid rows (44%) moved.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Direction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is scored on moved rows </a:t>
            </a:r>
            <a:r>
              <a:rPr lang="en-US" sz="1200">
                <a:solidFill>
                  <a:schemeClr val="lt2"/>
                </a:solidFill>
              </a:rPr>
              <a:t>solely</a:t>
            </a:r>
            <a:r>
              <a:rPr lang="en-US" sz="1200">
                <a:solidFill>
                  <a:schemeClr val="lt2"/>
                </a:solidFill>
              </a:rPr>
              <a:t>,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since a flat row has no direction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accent1"/>
                </a:solidFill>
              </a:rPr>
              <a:t>Predictors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: imbalance, 1- and 5-minute returns, spread, volatility(standard deviation of changes over five minutes) and update count (updates in that minute), built from the book up to time 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Split by time: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first 70% of rows train the models and the last 30% test them</a:t>
            </a:r>
            <a:r>
              <a:rPr lang="en-US" sz="1200">
                <a:solidFill>
                  <a:schemeClr val="lt2"/>
                </a:solidFill>
              </a:rPr>
              <a:t>, with a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5-minute </a:t>
            </a:r>
            <a:r>
              <a:rPr lang="en-US" sz="1200">
                <a:solidFill>
                  <a:schemeClr val="lt2"/>
                </a:solidFill>
              </a:rPr>
              <a:t>buffer 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between them </a:t>
            </a:r>
            <a:r>
              <a:rPr lang="en-US" sz="1200">
                <a:solidFill>
                  <a:schemeClr val="lt2"/>
                </a:solidFill>
              </a:rPr>
              <a:t>to prevent the</a:t>
            </a:r>
            <a:r>
              <a:rPr b="0" i="0" lang="en-US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training target from overlapping the test period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937760" y="1371600"/>
            <a:ext cx="3977640" cy="201168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4937760" y="3520440"/>
            <a:ext cx="3977640" cy="1394460"/>
          </a:xfrm>
          <a:prstGeom prst="rect">
            <a:avLst/>
          </a:prstGeom>
          <a:solidFill>
            <a:srgbClr val="90E0EF"/>
          </a:solidFill>
          <a:ln cap="flat" cmpd="sng" w="12700">
            <a:solidFill>
              <a:srgbClr val="90E0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5042876" y="3807248"/>
            <a:ext cx="3767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Imbalance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(bid size − ask size) </a:t>
            </a:r>
            <a:r>
              <a:rPr lang="en-US" sz="1150">
                <a:solidFill>
                  <a:schemeClr val="dk1"/>
                </a:solidFill>
              </a:rPr>
              <a:t>/ </a:t>
            </a:r>
            <a:r>
              <a:rPr b="0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(bid size + ask size). It runs from −1 (all asks) to +1 (all bids) and gauges buying versus selling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Arial"/>
              <a:buNone/>
            </a:pPr>
            <a:r>
              <a:rPr b="0" i="0" lang="en-US" sz="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5" title="slide14_rows_by_s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0" y="1267151"/>
            <a:ext cx="3977649" cy="24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How the models were built and trained</a:t>
            </a:r>
            <a:endParaRPr sz="2600"/>
          </a:p>
        </p:txBody>
      </p:sp>
      <p:sp>
        <p:nvSpPr>
          <p:cNvPr id="204" name="Google Shape;204;p16"/>
          <p:cNvSpPr/>
          <p:nvPr/>
        </p:nvSpPr>
        <p:spPr>
          <a:xfrm>
            <a:off x="228600" y="1371600"/>
            <a:ext cx="8686800" cy="11430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365760" y="1426464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</a:rPr>
              <a:t>Overarching split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365760" y="1737360"/>
            <a:ext cx="5552237" cy="41148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365760" y="1737360"/>
            <a:ext cx="5552237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First 70%: </a:t>
            </a:r>
            <a:r>
              <a:rPr b="1" lang="en-US" sz="1000">
                <a:solidFill>
                  <a:schemeClr val="lt2"/>
                </a:solidFill>
              </a:rPr>
              <a:t>training stage</a:t>
            </a: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5917997" y="1737360"/>
            <a:ext cx="336499" cy="41148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254496" y="1737360"/>
            <a:ext cx="2523744" cy="41148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6254496" y="1737360"/>
            <a:ext cx="2523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Last 30%: </a:t>
            </a:r>
            <a:r>
              <a:rPr b="1" lang="en-US" sz="1000">
                <a:solidFill>
                  <a:schemeClr val="dk1"/>
                </a:solidFill>
              </a:rPr>
              <a:t>testing stage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254496" y="2194560"/>
            <a:ext cx="252374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1017 rows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5003597" y="146304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5-min </a:t>
            </a:r>
            <a:r>
              <a:rPr b="1" lang="en-US" sz="950">
                <a:solidFill>
                  <a:schemeClr val="accent6"/>
                </a:solidFill>
              </a:rPr>
              <a:t>buffer 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228600" y="2651760"/>
            <a:ext cx="4251960" cy="226314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4663440" y="2651760"/>
            <a:ext cx="4251960" cy="226314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365760" y="272491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pc="10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 AND TRAINING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365760" y="2980944"/>
            <a:ext cx="400507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Data: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only the grid rows built from this hour’s file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accent1"/>
                </a:solidFill>
              </a:rPr>
              <a:t>Training: </a:t>
            </a:r>
            <a:r>
              <a:rPr lang="en-US" sz="1100">
                <a:solidFill>
                  <a:schemeClr val="lt2"/>
                </a:solidFill>
              </a:rPr>
              <a:t>Done on all moved rows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Held-out test: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models never see the last 30% of the time period while learning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Small sample: </a:t>
            </a:r>
            <a:r>
              <a:rPr lang="en-US" sz="1100">
                <a:solidFill>
                  <a:schemeClr val="lt2"/>
                </a:solidFill>
              </a:rPr>
              <a:t>772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training rows is little, so this tests whether a signal exists.</a:t>
            </a:r>
            <a:endParaRPr b="0" i="0" sz="11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-US" sz="1100">
                <a:solidFill>
                  <a:schemeClr val="lt2"/>
                </a:solidFill>
              </a:rPr>
              <a:t>Both models are fitted to </a:t>
            </a:r>
            <a:r>
              <a:rPr lang="en-US" sz="1100">
                <a:solidFill>
                  <a:schemeClr val="lt2"/>
                </a:solidFill>
              </a:rPr>
              <a:t>predict</a:t>
            </a:r>
            <a:r>
              <a:rPr lang="en-US" sz="1100">
                <a:solidFill>
                  <a:schemeClr val="lt2"/>
                </a:solidFill>
              </a:rPr>
              <a:t> p(UP) or p(DOWN) during this stage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4800600" y="272491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pc="100" sz="1100">
                <a:solidFill>
                  <a:schemeClr val="accent1"/>
                </a:solidFill>
              </a:rPr>
              <a:t>Model selection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4800600" y="2980944"/>
            <a:ext cx="400507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Logistic regression: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 simple linear model</a:t>
            </a:r>
            <a:r>
              <a:rPr lang="en-US" sz="1100">
                <a:solidFill>
                  <a:schemeClr val="lt2"/>
                </a:solidFill>
              </a:rPr>
              <a:t> weighing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US" sz="1100">
                <a:solidFill>
                  <a:schemeClr val="lt2"/>
                </a:solidFill>
              </a:rPr>
              <a:t>5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features, adds them up and converts the total into a probability of an up-move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Gradient boosting: </a:t>
            </a:r>
            <a:r>
              <a:rPr lang="en-US" sz="1100">
                <a:solidFill>
                  <a:schemeClr val="lt2"/>
                </a:solidFill>
              </a:rPr>
              <a:t>Depth 3, iterations 150, learning rate 0.05, minimum samples 50, L2 = 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accent1"/>
                </a:solidFill>
              </a:rPr>
              <a:t>Choice</a:t>
            </a:r>
            <a:r>
              <a:rPr b="1" i="0" lang="en-US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logistic is </a:t>
            </a:r>
            <a:r>
              <a:rPr lang="en-US" sz="1100">
                <a:solidFill>
                  <a:schemeClr val="lt2"/>
                </a:solidFill>
              </a:rPr>
              <a:t>rough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benchmark</a:t>
            </a:r>
            <a:r>
              <a:rPr lang="en-US" sz="1100">
                <a:solidFill>
                  <a:schemeClr val="lt2"/>
                </a:solidFill>
              </a:rPr>
              <a:t>, attempt 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boosting </a:t>
            </a:r>
            <a:r>
              <a:rPr lang="en-US" sz="1100">
                <a:solidFill>
                  <a:schemeClr val="lt2"/>
                </a:solidFill>
              </a:rPr>
              <a:t>with additional complexity</a:t>
            </a:r>
            <a:r>
              <a:rPr b="0" i="0" lang="en-US" sz="11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228600" y="22860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lt2"/>
                </a:solidFill>
              </a:rPr>
              <a:t>Both models rank moves above chance</a:t>
            </a:r>
            <a:endParaRPr sz="2600"/>
          </a:p>
        </p:txBody>
      </p:sp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/>
              <a:t>Did P(up) rank actual up-moves above actual down-moves? </a:t>
            </a:r>
            <a:endParaRPr sz="1300"/>
          </a:p>
        </p:txBody>
      </p:sp>
      <p:sp>
        <p:nvSpPr>
          <p:cNvPr id="226" name="Google Shape;226;p17"/>
          <p:cNvSpPr/>
          <p:nvPr/>
        </p:nvSpPr>
        <p:spPr>
          <a:xfrm>
            <a:off x="228600" y="1371600"/>
            <a:ext cx="201168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2331720" y="1371600"/>
            <a:ext cx="2011680" cy="3543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301752" y="142646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AUC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920240"/>
            <a:ext cx="19202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2404872" y="1426464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 loss gain over the 0.693 baseline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7440" y="1920240"/>
            <a:ext cx="192024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/>
          <p:nvPr/>
        </p:nvSpPr>
        <p:spPr>
          <a:xfrm>
            <a:off x="4480560" y="1371600"/>
            <a:ext cx="443484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617720" y="1481328"/>
            <a:ext cx="4178808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lt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r>
              <a:rPr b="1" lang="en-US" sz="1250">
                <a:solidFill>
                  <a:schemeClr val="accent1"/>
                </a:solidFill>
              </a:rPr>
              <a:t>: 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chance that a randomly chosen up-move gets a higher predicted P(up) than a randomly chosen down-move. 0.50 is a coin flip and 1.00 is perfect</a:t>
            </a:r>
            <a:r>
              <a:rPr lang="en-US" sz="1250">
                <a:solidFill>
                  <a:schemeClr val="lt2"/>
                </a:solidFill>
              </a:rPr>
              <a:t>, logistic scores 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0.580, boosting 0.627.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95% intervals: 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logistic 0.530–0.627, boosting 0.572–0.679. Both beat chance, but they overlap, so boosting is not proven better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: 55.5% logistic and 58.3% boosting. Always guessing “down” would score 50.9% 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Log loss 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grades the probabilities and punishes confident wrong calls. 0.693 is what a constant 50/50 guess scores. Logistic beats it by 0.0116, boosting by 0.0026.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Takeaway: 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boosting ranks better, but </a:t>
            </a:r>
            <a:r>
              <a:rPr lang="en-US" sz="1250">
                <a:solidFill>
                  <a:schemeClr val="lt2"/>
                </a:solidFill>
              </a:rPr>
              <a:t>it's</a:t>
            </a:r>
            <a:r>
              <a:rPr b="0" i="0" lang="en-US" sz="12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probabilities are barely better calibrated than 50/50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/>
          <p:nvPr>
            <p:ph type="title"/>
          </p:nvPr>
        </p:nvSpPr>
        <p:spPr>
          <a:xfrm>
            <a:off x="228600" y="22860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/>
              <a:t>Economic Test: Trading Rule</a:t>
            </a:r>
            <a:endParaRPr/>
          </a:p>
        </p:txBody>
      </p:sp>
      <p:sp>
        <p:nvSpPr>
          <p:cNvPr id="240" name="Google Shape;240;p18"/>
          <p:cNvSpPr txBox="1"/>
          <p:nvPr>
            <p:ph idx="1" type="body"/>
          </p:nvPr>
        </p:nvSpPr>
        <p:spPr>
          <a:xfrm>
            <a:off x="228600" y="868680"/>
            <a:ext cx="8686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/>
              <a:t>If we acted on P(UP), how much would we have made?</a:t>
            </a:r>
            <a:endParaRPr sz="1300"/>
          </a:p>
        </p:txBody>
      </p:sp>
      <p:sp>
        <p:nvSpPr>
          <p:cNvPr id="241" name="Google Shape;241;p18"/>
          <p:cNvSpPr/>
          <p:nvPr/>
        </p:nvSpPr>
        <p:spPr>
          <a:xfrm>
            <a:off x="228600" y="1371600"/>
            <a:ext cx="448050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365760" y="1481328"/>
            <a:ext cx="4224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Rule: </a:t>
            </a:r>
            <a:r>
              <a:rPr lang="en-US" sz="1450">
                <a:solidFill>
                  <a:schemeClr val="lt2"/>
                </a:solidFill>
              </a:rPr>
              <a:t>Utilize all test rows, b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uy YES if P(up) &gt; 0.5, otherwise buy NO. Close after 5 minutes. A NO position gains when the YES price falls.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Units: 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1% of a $1 contract.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Gross edge:</a:t>
            </a:r>
            <a:r>
              <a:rPr b="1" lang="en-US" sz="1450">
                <a:solidFill>
                  <a:schemeClr val="accent1"/>
                </a:solidFill>
              </a:rPr>
              <a:t> </a:t>
            </a:r>
            <a:r>
              <a:rPr lang="en-US" sz="1450">
                <a:solidFill>
                  <a:schemeClr val="lt2"/>
                </a:solidFill>
              </a:rPr>
              <a:t>direction bet on * actual 5 minute mid-price move,, +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0.22</a:t>
            </a:r>
            <a:r>
              <a:rPr lang="en-US" sz="1450">
                <a:solidFill>
                  <a:schemeClr val="lt2"/>
                </a:solidFill>
              </a:rPr>
              <a:t>c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per trade (logistic) and +0.14</a:t>
            </a:r>
            <a:r>
              <a:rPr lang="en-US" sz="1450">
                <a:solidFill>
                  <a:schemeClr val="lt2"/>
                </a:solidFill>
              </a:rPr>
              <a:t>c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(boosting)</a:t>
            </a:r>
            <a:r>
              <a:rPr lang="en-US" sz="1450">
                <a:solidFill>
                  <a:schemeClr val="lt2"/>
                </a:solidFill>
              </a:rPr>
              <a:t>, which represents 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average profit 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Cost: </a:t>
            </a:r>
            <a:r>
              <a:rPr lang="en-US" sz="1450">
                <a:solidFill>
                  <a:schemeClr val="lt2"/>
                </a:solidFill>
              </a:rPr>
              <a:t>spread at entry + spread at exit / 2, roughly 8.53 cents a trade (evaluated at test) at 5 minute intervals 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Net: 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−8.32</a:t>
            </a:r>
            <a:r>
              <a:rPr lang="en-US" sz="1450">
                <a:solidFill>
                  <a:schemeClr val="lt2"/>
                </a:solidFill>
              </a:rPr>
              <a:t>c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(logistic) and −8.40</a:t>
            </a:r>
            <a:r>
              <a:rPr lang="en-US" sz="1450">
                <a:solidFill>
                  <a:schemeClr val="lt2"/>
                </a:solidFill>
              </a:rPr>
              <a:t>c</a:t>
            </a:r>
            <a:r>
              <a:rPr b="0" i="0" lang="en-US" sz="145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(boosting) per trade.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8" title="slide18_cents_per_tra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750" y="1481325"/>
            <a:ext cx="4156074" cy="32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 txBox="1"/>
          <p:nvPr>
            <p:ph type="title"/>
          </p:nvPr>
        </p:nvSpPr>
        <p:spPr>
          <a:xfrm>
            <a:off x="228600" y="228600"/>
            <a:ext cx="8686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Arial"/>
              <a:buNone/>
            </a:pPr>
            <a:r>
              <a:rPr lang="en-US"/>
              <a:t>Conclusions</a:t>
            </a:r>
            <a:endParaRPr sz="2600"/>
          </a:p>
        </p:txBody>
      </p:sp>
      <p:sp>
        <p:nvSpPr>
          <p:cNvPr id="250" name="Google Shape;250;p19"/>
          <p:cNvSpPr txBox="1"/>
          <p:nvPr>
            <p:ph idx="1" type="body"/>
          </p:nvPr>
        </p:nvSpPr>
        <p:spPr>
          <a:xfrm>
            <a:off x="228600" y="868680"/>
            <a:ext cx="8686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None/>
            </a:pPr>
            <a:r>
              <a:rPr lang="en-US" sz="1300">
                <a:solidFill>
                  <a:schemeClr val="lt2"/>
                </a:solidFill>
              </a:rPr>
              <a:t>Descriptive evidence from one hour and 93 active assets</a:t>
            </a:r>
            <a:endParaRPr sz="1300"/>
          </a:p>
        </p:txBody>
      </p:sp>
      <p:sp>
        <p:nvSpPr>
          <p:cNvPr id="251" name="Google Shape;251;p19"/>
          <p:cNvSpPr/>
          <p:nvPr/>
        </p:nvSpPr>
        <p:spPr>
          <a:xfrm>
            <a:off x="228600" y="1371600"/>
            <a:ext cx="425196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4663440" y="1371600"/>
            <a:ext cx="4251960" cy="3543300"/>
          </a:xfrm>
          <a:prstGeom prst="rect">
            <a:avLst/>
          </a:prstGeom>
          <a:solidFill>
            <a:srgbClr val="00508A"/>
          </a:solidFill>
          <a:ln cap="flat" cmpd="sng" w="12700">
            <a:solidFill>
              <a:srgbClr val="005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365760" y="14630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pc="100" sz="1100">
                <a:solidFill>
                  <a:schemeClr val="accent1"/>
                </a:solidFill>
              </a:rPr>
              <a:t>To Sum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365760" y="1737360"/>
            <a:ext cx="400507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lt2"/>
                </a:solidFill>
              </a:rPr>
              <a:t>The model predicts direction only. We then ask whether acting on that prediction (previous slide) would have paid, using the real price changes and real spreads</a:t>
            </a:r>
            <a:endParaRPr>
              <a:solidFill>
                <a:schemeClr val="lt2"/>
              </a:solidFill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Activity is concentrated: Gini 0.844, and the top 100 assets produce 65.3% of rows.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update rate was steady: the busiest minute was only 1.4× the average.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Prices span 0 to 1, sizes are heavy-tailed, and about 22% of rows are removals.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Both models, trained on this hour, rank moves slightly above chance (AUC 0.58 and 0.63).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4800600" y="1463040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</a:pPr>
            <a:r>
              <a:rPr b="1" lang="en-US" spc="100" sz="1100">
                <a:solidFill>
                  <a:schemeClr val="accent1"/>
                </a:solidFill>
              </a:rPr>
              <a:t>Possible future directions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4800600" y="1737360"/>
            <a:ext cx="400507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 tradable edge: at most 0.22 gross against an 8.53 spread cost.</a:t>
            </a:r>
            <a:endParaRPr b="0" i="0" sz="14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1397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</a:pPr>
            <a:r>
              <a:rPr lang="en-US">
                <a:solidFill>
                  <a:schemeClr val="lt2"/>
                </a:solidFill>
              </a:rPr>
              <a:t>Low data usage - more variety in data could lead to better predictions</a:t>
            </a:r>
            <a:endParaRPr>
              <a:solidFill>
                <a:schemeClr val="lt2"/>
              </a:solidFill>
            </a:endParaRPr>
          </a:p>
          <a:p>
            <a:pPr indent="-139700" lvl="0" marL="139700" marR="0" rtl="0" algn="l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One hour only: nothing about other days or events, and only </a:t>
            </a:r>
            <a:r>
              <a:rPr lang="en-US">
                <a:solidFill>
                  <a:schemeClr val="lt2"/>
                </a:solidFill>
              </a:rPr>
              <a:t>few </a:t>
            </a: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training rows.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 txBox="1"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Kalshi Ocean">
  <a:themeElements>
    <a:clrScheme name="Kalshi Ocean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D9622B"/>
      </a:accent6>
      <a:hlink>
        <a:srgbClr val="0077B6"/>
      </a:hlink>
      <a:folHlink>
        <a:srgbClr val="0050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alshi Ocean">
  <a:themeElements>
    <a:clrScheme name="Kalshi Ocean">
      <a:dk1>
        <a:srgbClr val="03045E"/>
      </a:dk1>
      <a:lt1>
        <a:srgbClr val="CAF0F8"/>
      </a:lt1>
      <a:dk2>
        <a:srgbClr val="00508A"/>
      </a:dk2>
      <a:lt2>
        <a:srgbClr val="FFFFFF"/>
      </a:lt2>
      <a:accent1>
        <a:srgbClr val="86FFFF"/>
      </a:accent1>
      <a:accent2>
        <a:srgbClr val="90E0EF"/>
      </a:accent2>
      <a:accent3>
        <a:srgbClr val="0077B6"/>
      </a:accent3>
      <a:accent4>
        <a:srgbClr val="0096C7"/>
      </a:accent4>
      <a:accent5>
        <a:srgbClr val="00B4D8"/>
      </a:accent5>
      <a:accent6>
        <a:srgbClr val="D9622B"/>
      </a:accent6>
      <a:hlink>
        <a:srgbClr val="0077B6"/>
      </a:hlink>
      <a:folHlink>
        <a:srgbClr val="0050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